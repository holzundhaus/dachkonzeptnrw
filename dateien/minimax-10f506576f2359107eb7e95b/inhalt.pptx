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gitlab.com/info4678/dachkonzept-nrw/-/blob/be8a7e98bb29585b47e37d1522b25140e2692670/_posts/2026-10-26-dachneigung-und-deckmaterial-passt-die-wahl-zum-unterbau.md" TargetMode="External"/><Relationship Id="rId3" Type="http://schemas.openxmlformats.org/officeDocument/2006/relationships/hyperlink" Target="https://holzundhaus.github.io/dachkonzeptnrw/dateien/minimax-10f506576f2359107eb7e95b/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Dachneigung und Deckmaterial: Passt meine Wahl zum vorhandenen Unterbau? · Erklärende Präsentation</a:t>
            </a:r>
          </a:p>
        </p:txBody>
      </p:sp>
      <p:sp>
        <p:nvSpPr>
          <p:cNvPr id="3" name="Content Placeholder 2"/>
          <p:cNvSpPr>
            <a:spLocks noGrp="1"/>
          </p:cNvSpPr>
          <p:nvPr>
            <p:ph idx="1"/>
          </p:nvPr>
        </p:nvSpPr>
        <p:spPr/>
        <p:txBody>
          <a:bodyPr/>
          <a:lstStyle/>
          <a:p>
            <a:r>
              <a:t>Überblick: Bei der Auswahl eines neuen Dachbelags zählt nicht nur das gewünschte Erscheinungsbild. Entscheidend ist, ob Deckmaterial, Dachneigung und vorhandene Unterkonstruktion technisch zusammenpassen. Dieser Leitfaden zeigt, wie die bestehende Dachfläche geprüft, geeignete Materialien eingegrenzt und mögliche Zusatzmaßnahmen erkannt werden können. Die genannten Neigungswerte sind allgemeine Richtwerte; für die konkrete Planung bleiben die Herstellervorgaben und eine objektbezogene Prüfung maßgeblich.</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Dachneigung ermitteln</a:t>
            </a:r>
          </a:p>
        </p:txBody>
      </p:sp>
      <p:sp>
        <p:nvSpPr>
          <p:cNvPr id="3" name="Content Placeholder 2"/>
          <p:cNvSpPr>
            <a:spLocks noGrp="1"/>
          </p:cNvSpPr>
          <p:nvPr>
            <p:ph idx="1"/>
          </p:nvPr>
        </p:nvSpPr>
        <p:spPr/>
        <p:txBody>
          <a:bodyPr/>
          <a:lstStyle/>
          <a:p>
            <a:pPr>
              <a:defRPr sz="1800"/>
            </a:pPr>
            <a:r>
              <a:t>Beginnen Sie mit der vorhandenen Neigung des Dachs. Jedes Deckmaterial besitzt eine herstellerbezogene Regeldachneigung, bei der ein regensicherer Aufbau vorgesehen ist. Liegt das Dach flacher, können beispielsweise eine erhöhte Unterdachkonstruktion, zusätzliche Abdichtungen oder andere systemabhängige Maßnahmen erforderlich werden. Die Ist-Neigung kann durch Messen von Dachhöhe und -breite oder durch eine Prüfung vor Ort ermittelt werden. Wichtig ist außerdem, welche Geschossigkeit und Ausrichtung die betroffene Dachfläche hat: Eine Angabe zur durchschnittlichen Dachneigung allein reicht für die Beurteilung einzelner Flächen möglicherweise </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Dachneigung ermitteln</a:t>
            </a:r>
          </a:p>
        </p:txBody>
      </p:sp>
      <p:sp>
        <p:nvSpPr>
          <p:cNvPr id="3" name="Content Placeholder 2"/>
          <p:cNvSpPr>
            <a:spLocks noGrp="1"/>
          </p:cNvSpPr>
          <p:nvPr>
            <p:ph idx="1"/>
          </p:nvPr>
        </p:nvSpPr>
        <p:spPr/>
        <p:txBody>
          <a:bodyPr/>
          <a:lstStyle/>
          <a:p>
            <a:pPr>
              <a:defRPr sz="1800"/>
            </a:pPr>
            <a:r>
              <a:t>nicht aus.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Passende Deckmaterialien eingrenzen</a:t>
            </a:r>
          </a:p>
        </p:txBody>
      </p:sp>
      <p:sp>
        <p:nvSpPr>
          <p:cNvPr id="3" name="Content Placeholder 2"/>
          <p:cNvSpPr>
            <a:spLocks noGrp="1"/>
          </p:cNvSpPr>
          <p:nvPr>
            <p:ph idx="1"/>
          </p:nvPr>
        </p:nvSpPr>
        <p:spPr/>
        <p:txBody>
          <a:bodyPr/>
          <a:lstStyle/>
          <a:p>
            <a:pPr>
              <a:defRPr sz="1800"/>
            </a:pPr>
            <a:r>
              <a:t>Mit der festgestellten Neigung lassen sich mögliche Materialien vorläufig filtern. Tonziegel werden je nach Form häufig ab 22 bis 30 Grad verlegt; einige Flachziegelmodelle sind ab 12 Grad mit entsprechenden Zusatzmaßnahmen vorgesehen. Bei Betondachsteinen liegen die häufigen Richtwerte bei etwa 22 Grad, während einzelne Spezialmodelle darunter einsetzbar sind. Klassischer Schiefer wird üblicherweise ab 25 Grad genannt, bei bestimmten Schieferplatten-Deckarten können jedoch steilere Anforderungen gelten. Wellplatten aus Faserzement oder Metall kommen je nach Profil und System häufig schon ab 7 bis 15 Grad zum Einsatz. Diese Werte ermöglichen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Passende Deckmaterialien eingrenzen</a:t>
            </a:r>
          </a:p>
        </p:txBody>
      </p:sp>
      <p:sp>
        <p:nvSpPr>
          <p:cNvPr id="3" name="Content Placeholder 2"/>
          <p:cNvSpPr>
            <a:spLocks noGrp="1"/>
          </p:cNvSpPr>
          <p:nvPr>
            <p:ph idx="1"/>
          </p:nvPr>
        </p:nvSpPr>
        <p:spPr/>
        <p:txBody>
          <a:bodyPr/>
          <a:lstStyle/>
          <a:p>
            <a:pPr>
              <a:defRPr sz="1800"/>
            </a:pPr>
            <a:r>
              <a:t>einen ersten Materialvergleich, ersetzen aber nicht die systemspezifischen Vorgaben.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Tragfähigkeit des Unterbaus prüfen</a:t>
            </a:r>
          </a:p>
        </p:txBody>
      </p:sp>
      <p:sp>
        <p:nvSpPr>
          <p:cNvPr id="3" name="Content Placeholder 2"/>
          <p:cNvSpPr>
            <a:spLocks noGrp="1"/>
          </p:cNvSpPr>
          <p:nvPr>
            <p:ph idx="1"/>
          </p:nvPr>
        </p:nvSpPr>
        <p:spPr/>
        <p:txBody>
          <a:bodyPr/>
          <a:lstStyle/>
          <a:p>
            <a:pPr>
              <a:defRPr sz="1800"/>
            </a:pPr>
            <a:r>
              <a:t>Das gewählte Material belastet die vorhandene Konstruktion unterschiedlich stark. Schiefer wiegt deutlich weniger als Tonziegel oder Betondachsteine. Deshalb sollte vor der Bestellung geprüft werden, ob Sparren, Lattung und übriger Dachstuhl die erforderliche Last dauerhaft aufnehmen können. Zu kontrollieren sind außerdem die Abstände und Dimensionen von Lattung und Konterlattung sowie mögliche statische Mängel oder bereits eingedrungene Feuchtigkeit. Ein neuer Belag verbessert die Situation nicht automatisch, wenn Probleme im Unterbau bestehen. Insbesondere nachträgliche Anpassungen der Lattung können aufwendig werden und sollten deshalb nic</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Tragfähigkeit des Unterbaus prüfen</a:t>
            </a:r>
          </a:p>
        </p:txBody>
      </p:sp>
      <p:sp>
        <p:nvSpPr>
          <p:cNvPr id="3" name="Content Placeholder 2"/>
          <p:cNvSpPr>
            <a:spLocks noGrp="1"/>
          </p:cNvSpPr>
          <p:nvPr>
            <p:ph idx="1"/>
          </p:nvPr>
        </p:nvSpPr>
        <p:spPr/>
        <p:txBody>
          <a:bodyPr/>
          <a:lstStyle/>
          <a:p>
            <a:pPr>
              <a:defRPr sz="1800"/>
            </a:pPr>
            <a:r>
              <a:t>ht erst nach der Materialfeststellung beginnen.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Feuchteschutz und Anschlüsse einplanen</a:t>
            </a:r>
          </a:p>
        </p:txBody>
      </p:sp>
      <p:sp>
        <p:nvSpPr>
          <p:cNvPr id="3" name="Content Placeholder 2"/>
          <p:cNvSpPr>
            <a:spLocks noGrp="1"/>
          </p:cNvSpPr>
          <p:nvPr>
            <p:ph idx="1"/>
          </p:nvPr>
        </p:nvSpPr>
        <p:spPr/>
        <p:txBody>
          <a:bodyPr/>
          <a:lstStyle/>
          <a:p>
            <a:pPr>
              <a:defRPr sz="1800"/>
            </a:pPr>
            <a:r>
              <a:t>Bei niedrigen Neigungen gewinnen Unterdach, Anschlüsse und Durchdringungen besonderen Stellenwert. Eine Unterdachkonstruktion kann bei Schlagregen oder zeitweiliger Unterwanderung zusätzlichen Schutz bieten; ob sie erforderlich ist, hängt vom verwendeten Deckmaterial und Gesamtsystem ab. Bei stark speichernden Materialien wie Tonziegeln sollte die Konstruktion eine Hinterlüftung ermöglichen. Auch Dachfenster, Schornsteinköpfe und Ortgänge verlangen sorgfältig geplante Details. Prüfen Sie daher bereits bei der Materialauswahl, ob die geplanten Anschlüsse zu den Herstellerangaben passen und welche Zusatzebenen für das jeweilige System vorgesehe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Feuchteschutz und Anschlüsse einplanen</a:t>
            </a:r>
          </a:p>
        </p:txBody>
      </p:sp>
      <p:sp>
        <p:nvSpPr>
          <p:cNvPr id="3" name="Content Placeholder 2"/>
          <p:cNvSpPr>
            <a:spLocks noGrp="1"/>
          </p:cNvSpPr>
          <p:nvPr>
            <p:ph idx="1"/>
          </p:nvPr>
        </p:nvSpPr>
        <p:spPr/>
        <p:txBody>
          <a:bodyPr/>
          <a:lstStyle/>
          <a:p>
            <a:pPr>
              <a:defRPr sz="1800"/>
            </a:pPr>
            <a:r>
              <a:t>n sind.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Von der Prüfung zur belastbaren Anfrage</a:t>
            </a:r>
          </a:p>
        </p:txBody>
      </p:sp>
      <p:sp>
        <p:nvSpPr>
          <p:cNvPr id="3" name="Content Placeholder 2"/>
          <p:cNvSpPr>
            <a:spLocks noGrp="1"/>
          </p:cNvSpPr>
          <p:nvPr>
            <p:ph idx="1"/>
          </p:nvPr>
        </p:nvSpPr>
        <p:spPr/>
        <p:txBody>
          <a:bodyPr/>
          <a:lstStyle/>
          <a:p>
            <a:pPr>
              <a:defRPr sz="1800"/>
            </a:pPr>
            <a:r>
              <a:t>Eine systematische Reihenfolge erleichtert den Materialvergleich: Zuerst die Neigung der Bestandsdachfläche ermitteln, anschließend Tragfähigkeit, Sparrenabstände und Lattung prüfen. Danach können Materialien anhand ihrer Regeldachneigung eingegrenzt und ihr Gewicht mit der vorhandenen Konstruktion abgeglichen werden. Zum Schluss gehören Unterdach, Belüftung sowie Anschlüsse an Dachfenster, Ortgang und Schornstein in die Planung. Mit diesen Angaben lassen sich Anfragen präziser formulieren und Angebote besser vergleichen. Entscheidend bleibt, dass die gewählte Lösung für das konkrete Dach, seine Neigung und seinen Unterbau nachweislich geeign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Von der Prüfung zur belastbaren Anfrage</a:t>
            </a:r>
          </a:p>
        </p:txBody>
      </p:sp>
      <p:sp>
        <p:nvSpPr>
          <p:cNvPr id="3" name="Content Placeholder 2"/>
          <p:cNvSpPr>
            <a:spLocks noGrp="1"/>
          </p:cNvSpPr>
          <p:nvPr>
            <p:ph idx="1"/>
          </p:nvPr>
        </p:nvSpPr>
        <p:spPr/>
        <p:txBody>
          <a:bodyPr/>
          <a:lstStyle/>
          <a:p>
            <a:pPr>
              <a:defRPr sz="1800"/>
            </a:pPr>
            <a:r>
              <a:t>et ist.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Dachneigung und Deckmaterial: Passt meine Wahl zum vorhandenen Unterbau?</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