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konzeptnrw/schimmel-nach-dachschaden-sofortmassnahmen/" TargetMode="External"/><Relationship Id="rId3" Type="http://schemas.openxmlformats.org/officeDocument/2006/relationships/hyperlink" Target="https://holzundhaus.github.io/dachkonzeptnrw/dateien/minimax-faf6146628f32428cbc586a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Schimmel nach Dachschaden: Sofortmaßnahmen und wann Fachpersonal nötig ist · Erklärende Präsentation</a:t>
            </a:r>
          </a:p>
        </p:txBody>
      </p:sp>
      <p:sp>
        <p:nvSpPr>
          <p:cNvPr id="3" name="Content Placeholder 2"/>
          <p:cNvSpPr>
            <a:spLocks noGrp="1"/>
          </p:cNvSpPr>
          <p:nvPr>
            <p:ph idx="1"/>
          </p:nvPr>
        </p:nvSpPr>
        <p:spPr/>
        <p:txBody>
          <a:bodyPr/>
          <a:lstStyle/>
          <a:p>
            <a:r>
              <a:t>Überblick: Nach einem Dachschaden lässt sich Schimmel nicht allein anhand des sichtbaren Flecks beurteilen. Entscheidend ist, ob Feuchtigkeit weiterhin in Konstruktion oder Raumluft gelangt, ob die Ursache im Dach liegt oder aus Kondensation entsteht und ob eine fachliche Trocknung erforderlich ist. Der folgende Leitfaden verbindet die Sofortmaßnahmen mit einer strukturierten Dokumentation, damit der weitere Schadensverlauf nachvollziehbar bleibt.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 vor Trocknungsmaßnahmen</a:t>
            </a:r>
          </a:p>
        </p:txBody>
      </p:sp>
      <p:sp>
        <p:nvSpPr>
          <p:cNvPr id="3" name="Content Placeholder 2"/>
          <p:cNvSpPr>
            <a:spLocks noGrp="1"/>
          </p:cNvSpPr>
          <p:nvPr>
            <p:ph idx="1"/>
          </p:nvPr>
        </p:nvSpPr>
        <p:spPr/>
        <p:txBody>
          <a:bodyPr/>
          <a:lstStyle/>
          <a:p>
            <a:pPr>
              <a:defRPr sz="1800"/>
            </a:pPr>
            <a:r>
              <a:t>Bevor Möbel oder Textilien bewegt werden, muss der betroffene Bereich sicher zugänglich sein. Durchnässte Decken, lockere Bauteile und instabile Flächen dürfen nicht betreten oder eigenmächtig bearbeitet werden. Auch in der Nähe elektrischer Anlagen ist besondere Vorsicht geboten. Wasser kann in einem Behälter aufgefangen und Gegenstände können vorsichtig aus dem Gefahrenbereich entfernt werden. Reparaturen am Dach selbst gehören nicht in Eigenregie. Nach der Erstversorgung sollte der Raum möglichst intensiv belüftet werden, damit Feuchtigkeit aus der Raumluft abziehen kann.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Trocknung sichtbarer Gegenstände</a:t>
            </a:r>
          </a:p>
        </p:txBody>
      </p:sp>
      <p:sp>
        <p:nvSpPr>
          <p:cNvPr id="3" name="Content Placeholder 2"/>
          <p:cNvSpPr>
            <a:spLocks noGrp="1"/>
          </p:cNvSpPr>
          <p:nvPr>
            <p:ph idx="1"/>
          </p:nvPr>
        </p:nvSpPr>
        <p:spPr/>
        <p:txBody>
          <a:bodyPr/>
          <a:lstStyle/>
          <a:p>
            <a:pPr>
              <a:defRPr sz="1800"/>
            </a:pPr>
            <a:r>
              <a:t>Feuchte Möbel, Textilien und kleinere Gegenstände sollten herausgestellt oder so auseinandergestellt werden, dass Luft an alle Seiten gelangt. Das gilt besonders für Materialien, die Wasser aufnehmen oder in verborgenen Schichten speichern. Eine Trocknung der Oberfläche beseitigt jedoch nicht automatisch Feuchtigkeit in Dämmung, Wand oder Decke. Diese Bereiche können selbst nach dem Entfernen sichtbarer Gegenstände noch feucht sein. Deshalb sollte die Maßnahme nicht als abgeschlossen gelten, nur weil der Raum trocken und die Schimmelstelle vorübergehend unsichtbar wirkt. Eine fachliche Prüfung bleibt sinnvoll, wenn Konstruktionsteile betroffe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Trocknung sichtbarer Gegenstände</a:t>
            </a:r>
          </a:p>
        </p:txBody>
      </p:sp>
      <p:sp>
        <p:nvSpPr>
          <p:cNvPr id="3" name="Content Placeholder 2"/>
          <p:cNvSpPr>
            <a:spLocks noGrp="1"/>
          </p:cNvSpPr>
          <p:nvPr>
            <p:ph idx="1"/>
          </p:nvPr>
        </p:nvSpPr>
        <p:spPr/>
        <p:txBody>
          <a:bodyPr/>
          <a:lstStyle/>
          <a:p>
            <a:pPr>
              <a:defRPr sz="1800"/>
            </a:pPr>
            <a:r>
              <a:t>n waren oder der Befund erneut auftritt.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Feuchtigkeit und Schimmel systematisch beobachten</a:t>
            </a:r>
          </a:p>
        </p:txBody>
      </p:sp>
      <p:sp>
        <p:nvSpPr>
          <p:cNvPr id="3" name="Content Placeholder 2"/>
          <p:cNvSpPr>
            <a:spLocks noGrp="1"/>
          </p:cNvSpPr>
          <p:nvPr>
            <p:ph idx="1"/>
          </p:nvPr>
        </p:nvSpPr>
        <p:spPr/>
        <p:txBody>
          <a:bodyPr/>
          <a:lstStyle/>
          <a:p>
            <a:pPr>
              <a:defRPr sz="1800"/>
            </a:pPr>
            <a:r>
              <a:t>Eine einfache, wiederholte Kontrolle schafft Klarheit über den Verlauf. Hilfreich sind Datum, Uhrzeit, Raum, betroffene Flächen und ein Foto aus sicherer Entfernung. Notiert werden sollte außerdem, ob der Befund nach Regen, Sturm oder bei trockener Witterung auftritt. Auch Veränderungen an Farbe, Geruch, Fleckgröße und Ausbreitung können Hinweise geben. Die Eintrittsstelle des Wassers und der sichtbare Schimmelbereich müssen nicht übereinstimmen: Feuchtigkeit kann sich innerhalb des Dachaufbaus über größere Flächen verteilen. Werden solche Beobachtungen konsequent erfasst, lässt sich später besser unterscheiden, ob eine oberflächliche Trocknu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Feuchtigkeit und Schimmel systematisch beobachten</a:t>
            </a:r>
          </a:p>
        </p:txBody>
      </p:sp>
      <p:sp>
        <p:nvSpPr>
          <p:cNvPr id="3" name="Content Placeholder 2"/>
          <p:cNvSpPr>
            <a:spLocks noGrp="1"/>
          </p:cNvSpPr>
          <p:nvPr>
            <p:ph idx="1"/>
          </p:nvPr>
        </p:nvSpPr>
        <p:spPr/>
        <p:txBody>
          <a:bodyPr/>
          <a:lstStyle/>
          <a:p>
            <a:pPr>
              <a:defRPr sz="1800"/>
            </a:pPr>
            <a:r>
              <a:t>ng wirkt oder ob die Feuchtequelle weiter besteht.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Wassereintritt und Kondensation unterscheiden</a:t>
            </a:r>
          </a:p>
        </p:txBody>
      </p:sp>
      <p:sp>
        <p:nvSpPr>
          <p:cNvPr id="3" name="Content Placeholder 2"/>
          <p:cNvSpPr>
            <a:spLocks noGrp="1"/>
          </p:cNvSpPr>
          <p:nvPr>
            <p:ph idx="1"/>
          </p:nvPr>
        </p:nvSpPr>
        <p:spPr/>
        <p:txBody>
          <a:bodyPr/>
          <a:lstStyle/>
          <a:p>
            <a:pPr>
              <a:defRPr sz="1800"/>
            </a:pPr>
            <a:r>
              <a:t>Nicht jeder feuchte Fleck beweist einen offenen Dachschaden. Neben eingedrungenem Regenwasser kann auch Kondensationsfeuchte die Raumluft belasten. Bei der Beurteilung spielt deshalb die gesamte Situation eine Rolle: Wo liegt der Schimmel, welche Flächen sind feucht, wurde der Raum ausreichend belüftet und trat der Befund unabhängig vom Wetter auf? Ein undichter Anschluss, ein beschädigtes Dachelement oder eine offene Flachdachnaht erfordern jeweils andere Maßnahmen. Aus dem Schadensbild allein lässt sich die Ursache nicht zuverlässig bestimmen. Diese Unterscheidung verhindert, dass ein sichtbarer Schimmelbefund behandelt wird, während die ei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Wassereintritt und Kondensation unterscheiden</a:t>
            </a:r>
          </a:p>
        </p:txBody>
      </p:sp>
      <p:sp>
        <p:nvSpPr>
          <p:cNvPr id="3" name="Content Placeholder 2"/>
          <p:cNvSpPr>
            <a:spLocks noGrp="1"/>
          </p:cNvSpPr>
          <p:nvPr>
            <p:ph idx="1"/>
          </p:nvPr>
        </p:nvSpPr>
        <p:spPr/>
        <p:txBody>
          <a:bodyPr/>
          <a:lstStyle/>
          <a:p>
            <a:pPr>
              <a:defRPr sz="1800"/>
            </a:pPr>
            <a:r>
              <a:t>gentliche Feuchtigkeitsquelle ungeklärt bleibt.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unverzichtbar ist</a:t>
            </a:r>
          </a:p>
        </p:txBody>
      </p:sp>
      <p:sp>
        <p:nvSpPr>
          <p:cNvPr id="3" name="Content Placeholder 2"/>
          <p:cNvSpPr>
            <a:spLocks noGrp="1"/>
          </p:cNvSpPr>
          <p:nvPr>
            <p:ph idx="1"/>
          </p:nvPr>
        </p:nvSpPr>
        <p:spPr/>
        <p:txBody>
          <a:bodyPr/>
          <a:lstStyle/>
          <a:p>
            <a:pPr>
              <a:defRPr sz="1800"/>
            </a:pPr>
            <a:r>
              <a:t>Eine fachliche Beurteilung ist besonders wichtig, wenn der Befund nach einer Trocknung wiederkehrt, sich ausbreitet oder mehrere Räume betrifft. Das gilt auch, wenn Decke, Wandanschluss oder Dämmung durchfeuchtet sind oder die Ursache nicht eindeutig erkennbar bleibt. Dann müssen Aufbau, Eintrittsweg und betroffene Materialien gemeinsam betrachtet werden. Ergänzende Orientierung bietet die [Anleitung zur Schadensaufnahme am Dach](https://holzundhaus.github.io/dachkonzeptnrw/schimmel-nach-dachschaden-sofortmassnahmen/). Die Dokumentation bildet außerdem eine belastbare Grundlage für die weitere Abstimmung, etwa mit Versicherungen oder ausführe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unverzichtbar ist</a:t>
            </a:r>
          </a:p>
        </p:txBody>
      </p:sp>
      <p:sp>
        <p:nvSpPr>
          <p:cNvPr id="3" name="Content Placeholder 2"/>
          <p:cNvSpPr>
            <a:spLocks noGrp="1"/>
          </p:cNvSpPr>
          <p:nvPr>
            <p:ph idx="1"/>
          </p:nvPr>
        </p:nvSpPr>
        <p:spPr/>
        <p:txBody>
          <a:bodyPr/>
          <a:lstStyle/>
          <a:p>
            <a:pPr>
              <a:defRPr sz="1800"/>
            </a:pPr>
            <a:r>
              <a:t>nden Fachbetrieben. Eine konkrete Leistung lässt sich daraus jedoch nicht automatisch ableiten.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Sofortmaßnahme richtig weiterplanen</a:t>
            </a:r>
          </a:p>
        </p:txBody>
      </p:sp>
      <p:sp>
        <p:nvSpPr>
          <p:cNvPr id="3" name="Content Placeholder 2"/>
          <p:cNvSpPr>
            <a:spLocks noGrp="1"/>
          </p:cNvSpPr>
          <p:nvPr>
            <p:ph idx="1"/>
          </p:nvPr>
        </p:nvSpPr>
        <p:spPr/>
        <p:txBody>
          <a:bodyPr/>
          <a:lstStyle/>
          <a:p>
            <a:pPr>
              <a:defRPr sz="1800"/>
            </a:pPr>
            <a:r>
              <a:t>Nach Sicherung, Belüftung, Trocknung und Dokumentation folgt die Klärung von Ursache und Schadensumfang. Eine vorläufige Sicherung kann den Zustand stabilisieren, ersetzt aber keine dauerhafte Reparatur. Wird der Schimmel nur entfernt, ohne die Feuchtigkeitsquelle zu klären, ist ein Rückkehr nicht ausgeschlossen. Eine erneute Prüfung des Zustands sollte deshalb zu einem festen Bestandteil der weiteren Planung gehören. Für die Vorbereitung der nächsten Schritte kann derselbe [Ratgeber zu Sofortmaßnahmen nach Dachschäden](https://holzundhaus.github.io/dachkonzeptnrw/schimmel-nach-dachschaden-sofortmassnahmen/) herangezogen werden. Entscheidend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Sofortmaßnahme richtig weiterplanen</a:t>
            </a:r>
          </a:p>
        </p:txBody>
      </p:sp>
      <p:sp>
        <p:nvSpPr>
          <p:cNvPr id="3" name="Content Placeholder 2"/>
          <p:cNvSpPr>
            <a:spLocks noGrp="1"/>
          </p:cNvSpPr>
          <p:nvPr>
            <p:ph idx="1"/>
          </p:nvPr>
        </p:nvSpPr>
        <p:spPr/>
        <p:txBody>
          <a:bodyPr/>
          <a:lstStyle/>
          <a:p>
            <a:pPr>
              <a:defRPr sz="1800"/>
            </a:pPr>
            <a:r>
              <a:t>ist, die Maßnahmen in der Reihenfolge von Sicherheit, Ursachenklärung, fachlicher Trocknung und dauerhafter Behebung zu organisieren.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Schimmel nach Dachschaden: Sofortmaßnahmen und wann Fachpersonal nötig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