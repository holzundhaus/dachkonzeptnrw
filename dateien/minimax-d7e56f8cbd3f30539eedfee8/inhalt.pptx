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https://holzundhaus.github.io/dachkonzeptnrw/dachboden-ausbauen-technische-voraussetzungen/" TargetMode="External"/><Relationship Id="rId3" Type="http://schemas.openxmlformats.org/officeDocument/2006/relationships/hyperlink" Target="https://holzundhaus.github.io/dachkonzeptnrw/dateien/minimax-d7e56f8cbd3f30539eedfee8/inhalt.xlsx" TargetMode="Externa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Dachboden ausbauen: technische Voraussetzungen vor dem Innenausbau · Erklärende Präsentation</a:t>
            </a:r>
          </a:p>
        </p:txBody>
      </p:sp>
      <p:sp>
        <p:nvSpPr>
          <p:cNvPr id="3" name="Content Placeholder 2"/>
          <p:cNvSpPr>
            <a:spLocks noGrp="1"/>
          </p:cNvSpPr>
          <p:nvPr>
            <p:ph idx="1"/>
          </p:nvPr>
        </p:nvSpPr>
        <p:spPr/>
        <p:txBody>
          <a:bodyPr/>
          <a:lstStyle/>
          <a:p>
            <a:r>
              <a:t>Überblick: Bevor ein Dachgeschoss innen ausgebaut wird, muss der vorhandene Dachaufbau technisch verstanden sein. Die sichtbare Deckung bildet nur die äußere Hülle; dahinter folgen je nach Dach Unterkonstruktion, Dämmung, Luftdichtheit und Innenbekleidung. Eine belastbare Planung beginnt deshalb nicht mit der Auswahl von Gipskartonplatten oder Fußbodenmaterialien, sondern mit einer sorgfältigen Bestandsaufnahme. Sie klärt, welche Schichten erhalten bleiben können, wo Feuchtigkeit oder Zugluft auftreten und welche Anschlüsse bei der Innenausbauplanung berücksichtigt werden müssen. Die folgenden Punkte schaffen eine nachvollziehbare Grundlage f</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Die technische Bestandsaufnahme als Ausgangspunkt</a:t>
            </a:r>
          </a:p>
        </p:txBody>
      </p:sp>
      <p:sp>
        <p:nvSpPr>
          <p:cNvPr id="3" name="Content Placeholder 2"/>
          <p:cNvSpPr>
            <a:spLocks noGrp="1"/>
          </p:cNvSpPr>
          <p:nvPr>
            <p:ph idx="1"/>
          </p:nvPr>
        </p:nvSpPr>
        <p:spPr/>
        <p:txBody>
          <a:bodyPr/>
          <a:lstStyle/>
          <a:p>
            <a:pPr>
              <a:defRPr sz="1800"/>
            </a:pPr>
            <a:r>
              <a:t>Am Anfang steht die Prüfung des vorhandenen Dachs. Dabei geht es nicht nur um das allgemeine Alter oder um sichtbare Schäden, sondern um den gesamten Schichtaufbau. Entscheidend ist, ob die geplante Nutzung des Dachraums mit dem vorhandenen Zustand vereinbar ist. Wird der Raum beheizt oder bleibt er weiterhin kalt? Diese Frage beeinflusst sowohl die Notwendigkeit einer Dämmung der Dachfläche als auch ihre Position. Auch frühere Arbeiten, unbekannte Veränderungen und bereits vorhandene Dämm- oder Dampfsperrschichten sollten erkannt und dokumentiert werden, bevor neue Materialien geplant werden.</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Feuchtigkeit und Tragfähigkeit prüfen</a:t>
            </a:r>
          </a:p>
        </p:txBody>
      </p:sp>
      <p:sp>
        <p:nvSpPr>
          <p:cNvPr id="3" name="Content Placeholder 2"/>
          <p:cNvSpPr>
            <a:spLocks noGrp="1"/>
          </p:cNvSpPr>
          <p:nvPr>
            <p:ph idx="1"/>
          </p:nvPr>
        </p:nvSpPr>
        <p:spPr/>
        <p:txBody>
          <a:bodyPr/>
          <a:lstStyle/>
          <a:p>
            <a:pPr>
              <a:defRPr sz="1800"/>
            </a:pPr>
            <a:r>
              <a:t>Deckung, Lattung und Unterdach gehören zuerst geprüft. Ein Schaden an der Außenseite lässt nicht erkennen, wie groß der betroffene Bereich im Dachinneren tatsächlich ist. Ebenso wichtig ist die Tragkonstruktion: Sparrenabstand, Querschnitt und Zustand des Holzes müssen ausreichen, um Dämmung, Innenverkleidung und gegebenenfalls neue Dachfenster aufzunehmen. Soll ein zusätzlicher Ausschnitt entstehen, muss die Tragwirkung des betroffenen Sparrens berücksichtigt werden. Feuchtigkeit, Verformungen oder nicht dokumentierte Eingriffe können den Umfang des Rückbaus und die weitere Ausführung deutlich beeinflussen.</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Anschlüsse und bauphysikalische Anforderungen koordinieren</a:t>
            </a:r>
          </a:p>
        </p:txBody>
      </p:sp>
      <p:sp>
        <p:nvSpPr>
          <p:cNvPr id="3" name="Content Placeholder 2"/>
          <p:cNvSpPr>
            <a:spLocks noGrp="1"/>
          </p:cNvSpPr>
          <p:nvPr>
            <p:ph idx="1"/>
          </p:nvPr>
        </p:nvSpPr>
        <p:spPr/>
        <p:txBody>
          <a:bodyPr/>
          <a:lstStyle/>
          <a:p>
            <a:pPr>
              <a:defRPr sz="1800"/>
            </a:pPr>
            <a:r>
              <a:t>Fenster, Schornstein und Traufe verbinden die Dachfläche mit anderen Bauteilen. Ihre Anschlüsse müssen zum geplanten Aufbau passen, da sie häufig relevante Stellen für Feuchtigkeit oder Zugluft sind. Neue Dachfenster verändern die Konstruktion und sollten deshalb gemeinsam mit der übrigen Innenverbauplanung betrachtet werden. Auch die luftdichte Ebene ist ein eigenständiger Planungsbestandteil: Sie muss an Fenster, Wände und weitere Durchdringungen anschließen. Ein Dämmstoff allein genügt daher nicht. Ob eine Dampfbremse erforderlich ist und welches dafür geeignete System infrage kommt, gehört in die bauphysikalische Planung und kann nicht du</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Anschlüsse und bauphysikalische Anforderungen koordinieren</a:t>
            </a:r>
          </a:p>
        </p:txBody>
      </p:sp>
      <p:sp>
        <p:nvSpPr>
          <p:cNvPr id="3" name="Content Placeholder 2"/>
          <p:cNvSpPr>
            <a:spLocks noGrp="1"/>
          </p:cNvSpPr>
          <p:nvPr>
            <p:ph idx="1"/>
          </p:nvPr>
        </p:nvSpPr>
        <p:spPr/>
        <p:txBody>
          <a:bodyPr/>
          <a:lstStyle/>
          <a:p>
            <a:pPr>
              <a:defRPr sz="1800"/>
            </a:pPr>
            <a:r>
              <a:t>rch eine allgemeine Produktempfehlung ersetzt werden.</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Informationen für Anfragen und Angebote vorbereiten</a:t>
            </a:r>
          </a:p>
        </p:txBody>
      </p:sp>
      <p:sp>
        <p:nvSpPr>
          <p:cNvPr id="3" name="Content Placeholder 2"/>
          <p:cNvSpPr>
            <a:spLocks noGrp="1"/>
          </p:cNvSpPr>
          <p:nvPr>
            <p:ph idx="1"/>
          </p:nvPr>
        </p:nvSpPr>
        <p:spPr/>
        <p:txBody>
          <a:bodyPr/>
          <a:lstStyle/>
          <a:p>
            <a:pPr>
              <a:defRPr sz="1800"/>
            </a:pPr>
            <a:r>
              <a:t>Nach der Bestandsaufnahme sollten die wichtigsten Angaben schriftlich vorliegen. Dazu zählen die geplante Nutzung, der bekannte Dachaufbau, erkennbare Schäden sowie frühere Arbeiten am Dach. Auch Dachart, Neigung, Sparrenlage, Anschlüsse und die Entscheidung zwischen beheiztem und unbeheiztem Dachraum helfen bei der Eingrenzung sinnvoller Lösungen. Wer diese Punkte nachvollziehbar zusammenstellt, kann Rückfragen reduzieren und Angebote auf derselben Grundlage vergleichen. Pauschalangaben ohne Prüfung des Bestands sind dagegen wenig belastbar, weil der tatsächliche Zustand einzelner Schichten und Anschlüsse erst im Rahmen der technischen Unter</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Informationen für Anfragen und Angebote vorbereiten</a:t>
            </a:r>
          </a:p>
        </p:txBody>
      </p:sp>
      <p:sp>
        <p:nvSpPr>
          <p:cNvPr id="3" name="Content Placeholder 2"/>
          <p:cNvSpPr>
            <a:spLocks noGrp="1"/>
          </p:cNvSpPr>
          <p:nvPr>
            <p:ph idx="1"/>
          </p:nvPr>
        </p:nvSpPr>
        <p:spPr/>
        <p:txBody>
          <a:bodyPr/>
          <a:lstStyle/>
          <a:p>
            <a:pPr>
              <a:defRPr sz="1800"/>
            </a:pPr>
            <a:r>
              <a:t>suchung sichtbar wird.</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Dämmpositionen mit der Nutzung abstimmen</a:t>
            </a:r>
          </a:p>
        </p:txBody>
      </p:sp>
      <p:sp>
        <p:nvSpPr>
          <p:cNvPr id="3" name="Content Placeholder 2"/>
          <p:cNvSpPr>
            <a:spLocks noGrp="1"/>
          </p:cNvSpPr>
          <p:nvPr>
            <p:ph idx="1"/>
          </p:nvPr>
        </p:nvSpPr>
        <p:spPr/>
        <p:txBody>
          <a:bodyPr/>
          <a:lstStyle/>
          <a:p>
            <a:pPr>
              <a:defRPr sz="1800"/>
            </a:pPr>
            <a:r>
              <a:t>Nachdem die technischen Voraussetzungen geklärt sind, kann die Dämmung konkret geplant werden. Grundsätzlich kommen je nach konstruktiver Situation Positionen zwischen, unter oder über den Sparren infrage. Welche Variante sinnvoll ist, hängt vom vorhandenen Aufbau, von der geplanten Nutzung und davon ab, ob die oberste Geschossdecke oder die Dachfläche die thermische Grenze bildet. Diese Entscheidung sollte nicht erst bei der Materialauswahl fallen. Sinnvoll ist ein schrittweises Vorgehen: Bestand klären, Nutzung und Dämmziel festlegen, Anschlüsse und Luftdichtheit einbeziehen und anschließend den passenden Aufbau mit den beteiligten Fachplan</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Dämmpositionen mit der Nutzung abstimmen</a:t>
            </a:r>
          </a:p>
        </p:txBody>
      </p:sp>
      <p:sp>
        <p:nvSpPr>
          <p:cNvPr id="3" name="Content Placeholder 2"/>
          <p:cNvSpPr>
            <a:spLocks noGrp="1"/>
          </p:cNvSpPr>
          <p:nvPr>
            <p:ph idx="1"/>
          </p:nvPr>
        </p:nvSpPr>
        <p:spPr/>
        <p:txBody>
          <a:bodyPr/>
          <a:lstStyle/>
          <a:p>
            <a:pPr>
              <a:defRPr sz="1800"/>
            </a:pPr>
            <a:r>
              <a:t>ern abstimmen.</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Weitere Dokumente zum Thema</a:t>
            </a:r>
          </a:p>
        </p:txBody>
      </p:sp>
      <p:sp>
        <p:nvSpPr>
          <p:cNvPr id="3" name="Content Placeholder 2"/>
          <p:cNvSpPr>
            <a:spLocks noGrp="1"/>
          </p:cNvSpPr>
          <p:nvPr>
            <p:ph idx="1"/>
          </p:nvPr>
        </p:nvSpPr>
        <p:spPr/>
        <p:txBody>
          <a:bodyPr/>
          <a:lstStyle/>
          <a:p>
            <a:r>
              <a:rPr sz="1800">
                <a:hlinkClick r:id="rId2"/>
              </a:rPr>
              <a:t>Dachboden ausbauen: technische Voraussetzungen vor dem Innenausbau</a:t>
            </a:r>
          </a:p>
          <a:p>
            <a:r>
              <a:rPr sz="1800">
                <a:hlinkClick r:id="rId3"/>
              </a:rPr>
              <a:t>Zugehöriges Dokument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