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dachkonzept-nrw/-/blob/1c347286a8b31b39fca2deb2602a7bb8b3fcffa7/_posts/2026-10-21-dachbegruenung-nrw-foerdermoeglichkeiten-pruefen.md" TargetMode="External"/><Relationship Id="rId3" Type="http://schemas.openxmlformats.org/officeDocument/2006/relationships/hyperlink" Target="https://holzundhaus.github.io/dachkonzeptnrw/dateien/minimax-11bcb052260b3efc5bae132e/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Dachbegrünung in NRW: So prüfen Sie Fördermöglichkeiten vor der Planung · Erklärende Präsentation</a:t>
            </a:r>
          </a:p>
        </p:txBody>
      </p:sp>
      <p:sp>
        <p:nvSpPr>
          <p:cNvPr id="3" name="Content Placeholder 2"/>
          <p:cNvSpPr>
            <a:spLocks noGrp="1"/>
          </p:cNvSpPr>
          <p:nvPr>
            <p:ph idx="1"/>
          </p:nvPr>
        </p:nvSpPr>
        <p:spPr/>
        <p:txBody>
          <a:bodyPr/>
          <a:lstStyle/>
          <a:p>
            <a:r>
              <a:t>Überblick: Eine Dachbegrünung in NRW kann durch kommunale Programme unterstützt werden. Entscheidend ist, Fördermöglichkeiten und technische Eignung parallel zu prüfen, statt mit der Antragsplanung den Aufbau des Daches vorwegzunehmen. Der [Ausgangsbeitrag zur Förderprüfung in NRW](https://gitlab.com/info4678/dachkonzept-nrw/-/blob/1c347286a8b31b39fca2deb2602a7bb8b3fcffa7/_posts/2026-10-21-dachbegruenung-nrw-foerdermoeglichkeiten-pruefen.md) zeigt, welche Kommunen Programme anbieten und welche Angaben für eine belastbare Anfrage wichtig sind.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Förderfähigkeit frühzeitig eingrenzen</a:t>
            </a:r>
          </a:p>
        </p:txBody>
      </p:sp>
      <p:sp>
        <p:nvSpPr>
          <p:cNvPr id="3" name="Content Placeholder 2"/>
          <p:cNvSpPr>
            <a:spLocks noGrp="1"/>
          </p:cNvSpPr>
          <p:nvPr>
            <p:ph idx="1"/>
          </p:nvPr>
        </p:nvSpPr>
        <p:spPr/>
        <p:txBody>
          <a:bodyPr/>
          <a:lstStyle/>
          <a:p>
            <a:pPr>
              <a:defRPr sz="1800"/>
            </a:pPr>
            <a:r>
              <a:t>Förderprogramme unterscheiden sich je nach Kommune. Möglich sind beispielsweise direkte Zuschüsse, Steuervorteile oder Beratungsangebote. Welche Variante aktuell angeboten wird, sollte deshalb direkt beim zuständigen Stadtportal oder der Bauverwaltung geprüft werden. Eine frühere Förderzusage gilt nicht automatisch für ein neues Vorhaben. Hilfreich ist eine erste Bestandsaufnahme: Welche Angaben liegen zum Dach vor, welche Maßnahme ist geplant und welche Unterlagen verlangt das lokale Programm? So lässt sich vor einem Fachgespräch klären, ob eine Förderung grundsätzlich infrage kommt und wo die zuständige Anlaufstelle located ist.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Technische Prüfung und Förderantrag richtig verknüpfen</a:t>
            </a:r>
          </a:p>
        </p:txBody>
      </p:sp>
      <p:sp>
        <p:nvSpPr>
          <p:cNvPr id="3" name="Content Placeholder 2"/>
          <p:cNvSpPr>
            <a:spLocks noGrp="1"/>
          </p:cNvSpPr>
          <p:nvPr>
            <p:ph idx="1"/>
          </p:nvPr>
        </p:nvSpPr>
        <p:spPr/>
        <p:txBody>
          <a:bodyPr/>
          <a:lstStyle/>
          <a:p>
            <a:pPr>
              <a:defRPr sz="1800"/>
            </a:pPr>
            <a:r>
              <a:t>Eine Förderung ersetzt nicht die Prüfung der Dachkonstruktion. Zu klären sind insbesondere die Tragfähigkeit für zusätzliche Lasten, der Zustand der Abdichtung, die Entwässerung und die vorgesehene Art der Begrünung. Extensive und intensive Systeme stellen unterschiedliche Anforderungen an Substrat, Drainage, Wurzelschutz und Schutzlage. Wenn die Abdichtung erneuert werden muss, kann eine gemeinsame Planung sinnvoll sein. Fachbetriebe benötigen dafür Angaben zur Dachfläche, Neigung, zu den vorhandenen Schichten und Materialien sowie zum Zustand der Abläufe. Die gewünschte Nutzung hilft zusätzlich bei der Auswahl eines passenden Begrünungssyst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Technische Prüfung und Förderantrag richtig verknüpfen</a:t>
            </a:r>
          </a:p>
        </p:txBody>
      </p:sp>
      <p:sp>
        <p:nvSpPr>
          <p:cNvPr id="3" name="Content Placeholder 2"/>
          <p:cNvSpPr>
            <a:spLocks noGrp="1"/>
          </p:cNvSpPr>
          <p:nvPr>
            <p:ph idx="1"/>
          </p:nvPr>
        </p:nvSpPr>
        <p:spPr/>
        <p:txBody>
          <a:bodyPr/>
          <a:lstStyle/>
          <a:p>
            <a:pPr>
              <a:defRPr sz="1800"/>
            </a:pPr>
            <a:r>
              <a:t>ems.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Standortdaten und Gebäudekennzahlen vorbereiten</a:t>
            </a:r>
          </a:p>
        </p:txBody>
      </p:sp>
      <p:sp>
        <p:nvSpPr>
          <p:cNvPr id="3" name="Content Placeholder 2"/>
          <p:cNvSpPr>
            <a:spLocks noGrp="1"/>
          </p:cNvSpPr>
          <p:nvPr>
            <p:ph idx="1"/>
          </p:nvPr>
        </p:nvSpPr>
        <p:spPr/>
        <p:txBody>
          <a:bodyPr/>
          <a:lstStyle/>
          <a:p>
            <a:pPr>
              <a:defRPr sz="1800"/>
            </a:pPr>
            <a:r>
              <a:t>Für die Anfrage an die Kommune und die technische Planung sollte eine übersichtliche Objektbeschreibung zusammengestellt werden. Dazu gehören Dachfläche, Neigung, Bebauungsart, Alter und Zustand des Daches sowie Informationen zur Entwässerung. Auch die vorhandenen Schichten und Materialien sind relevant, weil sie Aufbau und Eignung beeinflussen. Eine Katasterkarte kann den grundsätzlichen räumlichen Einordnung dienen, ersetzt jedoch weder die statische Prüfung noch eine Begutachtung der Dachhaut. Bei größeren oder komplexen Dächern empfiehlt sich eine fachliche Bestandsaufnahme, bevor Angebote für Substrat, Drainage, Schutzsystem und Vegetati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Standortdaten und Gebäudekennzahlen vorbereiten</a:t>
            </a:r>
          </a:p>
        </p:txBody>
      </p:sp>
      <p:sp>
        <p:nvSpPr>
          <p:cNvPr id="3" name="Content Placeholder 2"/>
          <p:cNvSpPr>
            <a:spLocks noGrp="1"/>
          </p:cNvSpPr>
          <p:nvPr>
            <p:ph idx="1"/>
          </p:nvPr>
        </p:nvSpPr>
        <p:spPr/>
        <p:txBody>
          <a:bodyPr/>
          <a:lstStyle/>
          <a:p>
            <a:pPr>
              <a:defRPr sz="1800"/>
            </a:pPr>
            <a:r>
              <a:t>on verglichen werden.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Antrag nicht als letzten Arbeitsschritt behandeln</a:t>
            </a:r>
          </a:p>
        </p:txBody>
      </p:sp>
      <p:sp>
        <p:nvSpPr>
          <p:cNvPr id="3" name="Content Placeholder 2"/>
          <p:cNvSpPr>
            <a:spLocks noGrp="1"/>
          </p:cNvSpPr>
          <p:nvPr>
            <p:ph idx="1"/>
          </p:nvPr>
        </p:nvSpPr>
        <p:spPr/>
        <p:txBody>
          <a:bodyPr/>
          <a:lstStyle/>
          <a:p>
            <a:pPr>
              <a:defRPr sz="1800"/>
            </a:pPr>
            <a:r>
              <a:t>Förderbedingungen können Fristen, Obergrenzen und Nachweispflichten enthalten. Vor der Antragstellung sollten daher die Antragsfristen, die Gültigkeitsdauer einer Bewilligung und die Frage geklärt werden, ob mehrere Maßnahmen gleichzeitig berücksichtigt werden können. Auch die Einhaltung technischer Mindestanforderungen gehört zur Förderprüfung. Wichtig ist außerdem, welche Nachweise eingereicht werden müssen und ob eine Bewilligung an bestimmte Ausführungen oder Materialien gebunden ist. Nach einer Bewilligung sollten wesentliche Änderungen nicht eigenmächtig vorgenommen werden, da dadurch eine Rückzahlung möglich werden kann. Die vollständi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Antrag nicht als letzten Arbeitsschritt behandeln</a:t>
            </a:r>
          </a:p>
        </p:txBody>
      </p:sp>
      <p:sp>
        <p:nvSpPr>
          <p:cNvPr id="3" name="Content Placeholder 2"/>
          <p:cNvSpPr>
            <a:spLocks noGrp="1"/>
          </p:cNvSpPr>
          <p:nvPr>
            <p:ph idx="1"/>
          </p:nvPr>
        </p:nvSpPr>
        <p:spPr/>
        <p:txBody>
          <a:bodyPr/>
          <a:lstStyle/>
          <a:p>
            <a:pPr>
              <a:defRPr sz="1800"/>
            </a:pPr>
            <a:r>
              <a:t>ge Unterlagenliste sollte deshalb direkt bei der fördernden Stelle angefordert werden.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Planung mit belastbaren Angeboten absichern</a:t>
            </a:r>
          </a:p>
        </p:txBody>
      </p:sp>
      <p:sp>
        <p:nvSpPr>
          <p:cNvPr id="3" name="Content Placeholder 2"/>
          <p:cNvSpPr>
            <a:spLocks noGrp="1"/>
          </p:cNvSpPr>
          <p:nvPr>
            <p:ph idx="1"/>
          </p:nvPr>
        </p:nvSpPr>
        <p:spPr/>
        <p:txBody>
          <a:bodyPr/>
          <a:lstStyle/>
          <a:p>
            <a:pPr>
              <a:defRPr sz="1800"/>
            </a:pPr>
            <a:r>
              <a:t>Nach der Vorprüfung können einzelne Gewerke getrennt angeboten werden. Das erleichtert den Vergleich und macht sichtbar, welche Leistungen jeweils enthalten sind. Wichtig ist, dass Angebote dieselbe technische Systemvoraussetzung zugrunde legen und erforderliche Vorarbeiten berücksichtigen. Eine weiterführende [Übersicht zur Gründachplanung](https://www.dachkonzept-nrw.de/gruendach/) kann bei der strukturierten Vorbereitung helfen. Empfehlenswert ist eine kurze Projektreihenfolge: Förderbedarf klären, Dach und Entwässerung prüfen, Begrünungstyp festlegen, Angebote vergleichen und erst danach den Förderantrag mit den aktuellen Nachweisen vorbe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Planung mit belastbaren Angeboten absichern</a:t>
            </a:r>
          </a:p>
        </p:txBody>
      </p:sp>
      <p:sp>
        <p:nvSpPr>
          <p:cNvPr id="3" name="Content Placeholder 2"/>
          <p:cNvSpPr>
            <a:spLocks noGrp="1"/>
          </p:cNvSpPr>
          <p:nvPr>
            <p:ph idx="1"/>
          </p:nvPr>
        </p:nvSpPr>
        <p:spPr/>
        <p:txBody>
          <a:bodyPr/>
          <a:lstStyle/>
          <a:p>
            <a:pPr>
              <a:defRPr sz="1800"/>
            </a:pPr>
            <a:r>
              <a:t>reiten.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Dachbegrünung in NRW: So prüfen Sie Fördermöglichkeiten vor der Planung</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